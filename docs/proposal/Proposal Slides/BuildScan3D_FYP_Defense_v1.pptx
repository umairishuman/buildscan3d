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A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3" dt="2026-09-05T14:16:31.044"/>
    <p1510:client id="{E66ACB28-8A19-B5BE-AABA-571B9DF4877F}" v="454" dt="2026-09-05T16:30:17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C3714-4047-45D9-8AE3-A4497F1F4DB7}" type="datetimeFigureOut"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59788-AEF5-4465-A7B5-F33B17E829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1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PROPOSAL DEFENSE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BuildScan 3D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Visual-Inertial 3D Gaussian Splatting for Construction Spatial Verification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120640" cy="0"/>
          </a:xfrm>
          <a:prstGeom prst="line">
            <a:avLst/>
          </a:prstGeom>
          <a:noFill/>
          <a:ln w="15875">
            <a:solidFill>
              <a:srgbClr val="6E9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22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construction work is concealed behind drywall or a pour, remote reviewers have no verifiable way to confirm built dimensions match the design.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4114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223252"/>
          </a:solidFill>
          <a:ln w="12700">
            <a:solidFill>
              <a:srgbClr val="3A4A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4251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45262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Umair  </a:t>
            </a:r>
            <a:r>
              <a:rPr lang="en-US" sz="1250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23i-0662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Tayyab  </a:t>
            </a:r>
            <a:r>
              <a:rPr lang="en-US" sz="1250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23i-0636
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Fareed  </a:t>
            </a:r>
            <a:r>
              <a:rPr lang="en-US" sz="1250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23i-0829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5513832"/>
            <a:ext cx="3017520" cy="0"/>
          </a:xfrm>
          <a:prstGeom prst="line">
            <a:avLst/>
          </a:prstGeom>
          <a:noFill/>
          <a:ln w="9525">
            <a:solidFill>
              <a:srgbClr val="3A4A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55961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Furqan Nasir
</a:t>
            </a:r>
            <a:r>
              <a:rPr lang="en-US" sz="1150" b="1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Research-Derived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School of Computing  •  National University of Computer and Emerging Sciences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5623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E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783080" y="1847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2951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current construction verification workflows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5623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E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543800" y="18470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&amp; Research Gap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22951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systems, prior FYP, and the research basis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735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E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783080" y="3264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83080" y="37124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Complex Computing Problem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108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2735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E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543800" y="32644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43800" y="37124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Contribution, system architecture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908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E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783080" y="4681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Evaluation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83080" y="5129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evidence, evaluation plan, risks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5262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6908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E3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543800" y="46817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&amp; Considerations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43800" y="512978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roles, timeline, ethics &amp; legal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PROBLEM &amp; MOTIVATION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 &amp; Who It Affects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EBEFF1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379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USERS (ON-SITE)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130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site supervisors &amp; QA inspectors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video documenting site conditions during routine, active-site work.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379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USERS (REMOTE)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130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&amp; civil engineers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3D reconstructions remotely and extract dimensions to verify as-built progress.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204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WORKFLOW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3813048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2D photography, walking active floors; a tape measure is held in-frame for scale, then collated into static reports for remote managers.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75960" y="3931920"/>
            <a:ext cx="594360" cy="32004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</p:sp>
      <p:sp>
        <p:nvSpPr>
          <p:cNvPr id="21" name="Shape 19"/>
          <p:cNvSpPr/>
          <p:nvPr/>
        </p:nvSpPr>
        <p:spPr>
          <a:xfrm>
            <a:off x="6492240" y="33832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E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35204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48272" y="3813048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photo doesn't encode verifiable spatial coordinates. Once work is concealed behind drywall or a pour, dimensions can't be confirmed remotely.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BEFF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93792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$1.8T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2926080" y="5166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global cost of “bad data” in construction — inaccurate, incomplete, or untimely information — directly driving 14% of avoidable rework ($88B). Autodesk &amp; FMI Consulting (2021).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EXISTING WORK &amp; RESEARCH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Solutions &amp; Prior FYP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255973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Existing Approach</a:t>
                      </a:r>
                      <a:endParaRPr lang="en-US" sz="16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Provides</a:t>
                      </a:r>
                      <a:endParaRPr lang="en-US" sz="16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Limitation</a:t>
                      </a:r>
                      <a:endParaRPr lang="en-US" sz="16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Our Difference</a:t>
                      </a:r>
                      <a:endParaRPr lang="en-US" sz="16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Matterport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(commercial reality capture)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Dedicated LiDAR hardware; accurate floor plans &amp; 360° tours.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Costs several thousand $; scheduled sessions; fixed-viewpoint navigation only.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Standard smartphone video — no proprietary hardware dependency.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Consumer mobile AI scanners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(Polycam, Luma AI)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On-device LiDAR + cloud NeRF/3DGS; captures in minutes.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Closed, black-box output; no measurable floor-plan extraction; geometrically inconsistent on low-texture walls.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Integrates 2D-to-3D semantic segmentation for automated dimension extraction.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Prior FAST FYP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(F25-283-D-Roomora)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Mobile room scanning → standard 3D meshes + AI 2D-to-3D + local AR visualisation.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Meshes lack 3DGS photorealistic fidelity; no compression/delivery to a remote browser.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Cloud 3DGS pipeline with ARCore fusion + .ksplat compression for remote browser delivery.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Current manual workflow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Walking the site; disconnected 2D photos with a tape measure held in-frame.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No depth/spatial context; remote verification impossible; contributes to costly rework.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Automates spatial &amp; dimensional extraction, replacing manual tape-measure estimation.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EXISTING WORK &amp; RESEARCH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&amp; Technical Basis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757846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/ Method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Main Finding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Decision Influenced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Kerbl et al., 2023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3D Gaussian Splatting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(ACM TOG / SIGGRAPH)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Real-time photorealistic rendering from sparse point clouds; raw .ply output is typically hundreds of MB.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Adopt 3DGS as the core reconstruction method, requiring an automated .ksplat compression stage before web delivery.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VIGS-SLAM, 2025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Visual-Inertial Gaussian Splatting SLAM (ECCV)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Tightly coupling visual correspondences with IMU pre-integration reduces tracking loss in low-texture conditions.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Fuse ARCore inertial telemetry with visual tracking to stabilise pose estimation on featureless surfaces (bare drywall).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ContextGS / Compact 3DGS, 2024–25 (NeurIPS)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Heuristic pruning, opacity-gradient densification &amp; context modelling reduce required 3DGS primitives.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Implement an adaptive Three.js viewer with level-of-detail &amp; splat-budget management driven by client hardware.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GSemSplat, 2024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Semantic 3D Gaussian Splatting (arXiv)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Linking 2D semantic features to 3D Gaussians after training avoids the overhead of joint semantic/geometry training.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Run 2D semantic segmentation independently on keyframes; project bounding boxes onto geometry after training.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TECHNICAL CHALLENGE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Complex Computing Challenge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BEFF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64208"/>
            <a:ext cx="10515600" cy="8412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i="1" dirty="0">
                <a:solidFill>
                  <a:srgbClr val="1E2A45"/>
                </a:solidFill>
                <a:latin typeface="Calibri"/>
                <a:ea typeface="Calibri"/>
                <a:cs typeface="Calibri"/>
              </a:rPr>
              <a:t>Extract navigable, dimensionally-usable 3D reconstructions from unconstrained, noisy smartphone video on active construction sites -maintaining tracking through featureless/reflective surfaces, balancing high-fidelity rendering against browser memory limits, and deriving structured measurements from unstructured point clouds where errors carry real engineering consequences.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ACCORD CHARACTERISTICS MAPPING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383280"/>
            <a:ext cx="384048" cy="384048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858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Requirements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183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385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3DGS rendering vs. strict mobile-browser memory limits.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080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2811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.ksplat compression + adaptive Three.js splat budget.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20040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84448" y="3383280"/>
            <a:ext cx="384048" cy="384048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448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858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Knowledge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4183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4385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coordinate transforms &amp; non-Euclidean point-cloud geometry.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5080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0" y="52811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data fusion + custom 2D-to-3D back-projection.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20040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088" y="3383280"/>
            <a:ext cx="384048" cy="384048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0" y="3858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Standard Practice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183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4385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web/CRUD architecture cannot handle async, heavy-compute reconstruction.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080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52811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task scheduling via message queue + Dockerised cloud GPU workers.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52560" y="3200400"/>
            <a:ext cx="25603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53728" y="3383280"/>
            <a:ext cx="384048" cy="384048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38" name="Text 36"/>
          <p:cNvSpPr/>
          <p:nvPr/>
        </p:nvSpPr>
        <p:spPr>
          <a:xfrm>
            <a:off x="9253728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35440" y="3858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Interdependence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35440" y="418388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35440" y="4385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one pipeline stage cascades through the rest.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5080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35440" y="52811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error tracking &amp; validation checks across pipeline stages.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PROPOSED 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Solution &amp; Contribution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1536192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A4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883664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 capture-to-delivery pipeline that fuses inertial and visual tracking, compresses reconstructions for browser delivery, and projects semantic labels onto geometry to support dimensional measurement — evaluated against existing systems and physical tape-measurement baselines.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APPROACH → CONTRIBUTION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447288"/>
            <a:ext cx="457200" cy="457200"/>
          </a:xfrm>
          <a:prstGeom prst="ellipse">
            <a:avLst/>
          </a:prstGeom>
          <a:solidFill>
            <a:srgbClr val="3F6C8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tracking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4165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ARCore inertial telemetry with COLMAP structure-from-motion to stabilise camera tracking on featureless construction surfaces.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2461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447288"/>
            <a:ext cx="457200" cy="457200"/>
          </a:xfrm>
          <a:prstGeom prst="ellipse">
            <a:avLst/>
          </a:prstGeom>
          <a:solidFill>
            <a:srgbClr val="3F6C8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browser delivery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0" y="44165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point-pruning and .ksplat compression keep reconstructions renderable in a standard web browser.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24612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3447288"/>
            <a:ext cx="457200" cy="457200"/>
          </a:xfrm>
          <a:prstGeom prst="ellipse">
            <a:avLst/>
          </a:prstGeom>
          <a:solidFill>
            <a:srgbClr val="3F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4023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measurement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44165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2D-to-3D semantic projection supports dimensional measurement directly from the reconstructed geometry.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components — 3DGS, COLMAP, ARCore, Three.js — are established research and tooling. The pipeline that fuses them reliably under construction-site constraints and delivers within browser memory limits is the team's own engineering contribution.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PROPOSED 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ON-SITE 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4447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CLOUD RECONSTRUCTION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4447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REMOTE DELIVERY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3736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BEFF1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737360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(Site Supervisor / QA Inspector)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60804" y="2240280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423160"/>
            <a:ext cx="2880360" cy="621792"/>
          </a:xfrm>
          <a:prstGeom prst="roundRect">
            <a:avLst>
              <a:gd name="adj" fmla="val 8824"/>
            </a:avLst>
          </a:prstGeom>
          <a:solidFill>
            <a:srgbClr val="D9E8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423160"/>
            <a:ext cx="2734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— ARCore telemetry + edge image-quality validation (FR1–FR3)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60804" y="3044952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27832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6EBD2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27832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raw video + telemetry (JSON)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1737360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D9E8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1737360"/>
            <a:ext cx="3099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(Node.js / Express)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26964" y="2157984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0" y="2322576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6EBD2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2322576"/>
            <a:ext cx="3099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Job Queue (FR4)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26964" y="2743200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2907792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4EEE3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2907792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 SfM + ARCore fusion (FR5)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26964" y="3392424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29" name="Shape 27"/>
          <p:cNvSpPr/>
          <p:nvPr/>
        </p:nvSpPr>
        <p:spPr>
          <a:xfrm>
            <a:off x="3931920" y="3557016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4EEE3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3557016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training (FR6)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26964" y="4041648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32" name="Shape 30"/>
          <p:cNvSpPr/>
          <p:nvPr/>
        </p:nvSpPr>
        <p:spPr>
          <a:xfrm>
            <a:off x="3931920" y="420624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4EEE3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42062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semantic segmentation on keyframes (FR7)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26964" y="4690872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35" name="Shape 33"/>
          <p:cNvSpPr/>
          <p:nvPr/>
        </p:nvSpPr>
        <p:spPr>
          <a:xfrm>
            <a:off x="3931920" y="4855464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E4EEE3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05072" y="4855464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pruning + .ksplat compression (FR8)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83864" y="2884932"/>
            <a:ext cx="384048" cy="201168"/>
          </a:xfrm>
          <a:prstGeom prst="rightArrow">
            <a:avLst/>
          </a:prstGeom>
          <a:solidFill>
            <a:srgbClr val="DCE3E8"/>
          </a:solidFill>
          <a:ln/>
        </p:spPr>
      </p:sp>
      <p:sp>
        <p:nvSpPr>
          <p:cNvPr id="38" name="Shape 36"/>
          <p:cNvSpPr/>
          <p:nvPr/>
        </p:nvSpPr>
        <p:spPr>
          <a:xfrm>
            <a:off x="7232904" y="3617468"/>
            <a:ext cx="384048" cy="201168"/>
          </a:xfrm>
          <a:prstGeom prst="rightArrow">
            <a:avLst/>
          </a:prstGeom>
          <a:solidFill>
            <a:srgbClr val="DCE3E8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173736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F6EBD2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1737360"/>
            <a:ext cx="2734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Scene Storage (.ksplat) + Metadata DB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93124" y="2357120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42" name="Shape 40"/>
          <p:cNvSpPr/>
          <p:nvPr/>
        </p:nvSpPr>
        <p:spPr>
          <a:xfrm>
            <a:off x="7680960" y="2802128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D9E8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2802128"/>
            <a:ext cx="2734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Backend (Next.js)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93124" y="3503168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45" name="Shape 43"/>
          <p:cNvSpPr/>
          <p:nvPr/>
        </p:nvSpPr>
        <p:spPr>
          <a:xfrm>
            <a:off x="7680960" y="3948176"/>
            <a:ext cx="2880360" cy="621792"/>
          </a:xfrm>
          <a:prstGeom prst="roundRect">
            <a:avLst>
              <a:gd name="adj" fmla="val 8824"/>
            </a:avLst>
          </a:prstGeom>
          <a:solidFill>
            <a:srgbClr val="D9E8F0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3948176"/>
            <a:ext cx="2734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Dashboard — Three.js / WebGL viewer (FR9–FR11)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993124" y="4832096"/>
            <a:ext cx="256032" cy="182880"/>
          </a:xfrm>
          <a:prstGeom prst="downArrow">
            <a:avLst/>
          </a:prstGeom>
          <a:solidFill>
            <a:srgbClr val="DCE3E8"/>
          </a:solidFill>
          <a:ln/>
        </p:spPr>
      </p:sp>
      <p:sp>
        <p:nvSpPr>
          <p:cNvPr id="48" name="Shape 46"/>
          <p:cNvSpPr/>
          <p:nvPr/>
        </p:nvSpPr>
        <p:spPr>
          <a:xfrm>
            <a:off x="7680960" y="5277104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BEFF1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54112" y="5277104"/>
            <a:ext cx="2734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(Project Manager / Civil Engineer)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06E"/>
                </a:solidFill>
                <a:latin typeface="Calibri"/>
                <a:ea typeface="Calibri"/>
                <a:cs typeface="Calibri"/>
              </a:rPr>
              <a:t>Four cooperating layers: mobile capture (Android/ARCore) → backend orchestration (Redis-backed queue) → Dockerised GPU reconstruction worker (COLMAP, 3DGS, segmentation) → web review layer (Next.js + Three.js/WebGL).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FEASIBILITY &amp;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Feasibility Evidence (Proposal Stage)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ASSUMPTION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019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BEFF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0195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3DGS reconstruction, once pruned and compressed into .ksplat format, can render smoothly inside a standard web browser rather than causing a memory failure.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FEASIBILITY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259461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5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>
              <a:solidFill>
                <a:srgbClr val="1E2A45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3232" y="3657600"/>
            <a:ext cx="22654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short video of a low-texture indoor space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0682" y="3749040"/>
            <a:ext cx="182880" cy="182880"/>
          </a:xfrm>
          <a:prstGeom prst="rightArrow">
            <a:avLst/>
          </a:prstGeom>
          <a:solidFill>
            <a:srgbClr val="DCE3E8"/>
          </a:solidFill>
          <a:ln/>
        </p:spPr>
      </p:sp>
      <p:sp>
        <p:nvSpPr>
          <p:cNvPr id="17" name="Shape 15"/>
          <p:cNvSpPr/>
          <p:nvPr/>
        </p:nvSpPr>
        <p:spPr>
          <a:xfrm>
            <a:off x="3371850" y="3200400"/>
            <a:ext cx="259461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6442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5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>
              <a:solidFill>
                <a:srgbClr val="1E2A45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36442" y="3657600"/>
            <a:ext cx="22654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into a raw 3D Gaussian point cloud (local GPU / cloud notebook)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93892" y="3749040"/>
            <a:ext cx="182880" cy="182880"/>
          </a:xfrm>
          <a:prstGeom prst="rightArrow">
            <a:avLst/>
          </a:prstGeom>
          <a:solidFill>
            <a:srgbClr val="DCE3E8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5060" y="3200400"/>
            <a:ext cx="259461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9652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5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>
              <a:solidFill>
                <a:srgbClr val="1E2A45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59652" y="3657600"/>
            <a:ext cx="22654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output into a .ksplat file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17102" y="3749040"/>
            <a:ext cx="182880" cy="182880"/>
          </a:xfrm>
          <a:prstGeom prst="rightArrow">
            <a:avLst/>
          </a:prstGeom>
          <a:solidFill>
            <a:srgbClr val="DCE3E8"/>
          </a:solidFill>
          <a:ln/>
        </p:spPr>
      </p:sp>
      <p:sp>
        <p:nvSpPr>
          <p:cNvPr id="25" name="Shape 23"/>
          <p:cNvSpPr/>
          <p:nvPr/>
        </p:nvSpPr>
        <p:spPr>
          <a:xfrm>
            <a:off x="9018270" y="3200400"/>
            <a:ext cx="259461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2862" y="3310128"/>
            <a:ext cx="4572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45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>
              <a:solidFill>
                <a:srgbClr val="1E2A45"/>
              </a:solidFill>
              <a:latin typeface="Bookman Old Style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82862" y="3657600"/>
            <a:ext cx="226542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rendering in a browser-based viewer; record file-size reduction as evidence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983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STATUS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POC SCREENSHOT / BASELINE RESULT — file-size reduction (.ply → .ksplat) and browser render confirmation to be added before defense 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FEASIBILITY &amp;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Plan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64792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/ COMPARATOR</a:t>
            </a:r>
            <a:endParaRPr lang="en-US" sz="1100" b="1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manual tape-measure workflow, plus qualitative comparison against Matterport, Polycam, and Luma AI.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64792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SCENARIOS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site captures spanning varied lighting and surface types — including featureless drywall and reflective/cluttered surfaces.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1635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35224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b="1" dirty="0"/>
          </a:p>
        </p:txBody>
      </p:sp>
      <p:sp>
        <p:nvSpPr>
          <p:cNvPr id="17" name="Text 15"/>
          <p:cNvSpPr/>
          <p:nvPr/>
        </p:nvSpPr>
        <p:spPr>
          <a:xfrm>
            <a:off x="777240" y="318211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NFR targets: capture rate, edge-processing latency, pipeline latency, compression ratio, viewer frame rate, and dimensional accuracy (see below).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81635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935224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</a:t>
            </a:r>
            <a:endParaRPr lang="en-US" sz="1100" b="1" dirty="0"/>
          </a:p>
        </p:txBody>
      </p:sp>
      <p:sp>
        <p:nvSpPr>
          <p:cNvPr id="20" name="Text 18"/>
          <p:cNvSpPr/>
          <p:nvPr/>
        </p:nvSpPr>
        <p:spPr>
          <a:xfrm>
            <a:off x="6492240" y="318211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loss on featureless/reflective surfaces; browser failure on an unpruned scene; incorrect material classification affecting dimension extraction.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TARGETS (USED AS EVALUATION METRICS)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729740" cy="1234440"/>
          </a:xfrm>
          <a:prstGeom prst="roundRect">
            <a:avLst>
              <a:gd name="adj" fmla="val 5926"/>
            </a:avLst>
          </a:prstGeom>
          <a:solidFill>
            <a:srgbClr val="EBEFF1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4480560"/>
            <a:ext cx="15834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≥ 30 FPS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5303520"/>
            <a:ext cx="15834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15540" y="4389120"/>
            <a:ext cx="1729740" cy="1234440"/>
          </a:xfrm>
          <a:prstGeom prst="roundRect">
            <a:avLst>
              <a:gd name="adj" fmla="val 5926"/>
            </a:avLst>
          </a:prstGeom>
          <a:solidFill>
            <a:srgbClr val="EBEFF1"/>
          </a:solidFill>
          <a:ln/>
        </p:spPr>
      </p:sp>
      <p:sp>
        <p:nvSpPr>
          <p:cNvPr id="26" name="Text 24"/>
          <p:cNvSpPr/>
          <p:nvPr/>
        </p:nvSpPr>
        <p:spPr>
          <a:xfrm>
            <a:off x="2488692" y="4480560"/>
            <a:ext cx="15834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 16 ms / frame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88692" y="5303520"/>
            <a:ext cx="15834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IQA latency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82440" y="4389120"/>
            <a:ext cx="1729740" cy="1234440"/>
          </a:xfrm>
          <a:prstGeom prst="roundRect">
            <a:avLst>
              <a:gd name="adj" fmla="val 5926"/>
            </a:avLst>
          </a:prstGeom>
          <a:solidFill>
            <a:srgbClr val="EBEFF1"/>
          </a:solidFill>
          <a:ln/>
        </p:spPr>
      </p:sp>
      <p:sp>
        <p:nvSpPr>
          <p:cNvPr id="29" name="Text 27"/>
          <p:cNvSpPr/>
          <p:nvPr/>
        </p:nvSpPr>
        <p:spPr>
          <a:xfrm>
            <a:off x="4355592" y="4480560"/>
            <a:ext cx="15834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 15 min (60s video, RTX 4090-class)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55592" y="5303520"/>
            <a:ext cx="15834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latency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49340" y="4389120"/>
            <a:ext cx="1729740" cy="1234440"/>
          </a:xfrm>
          <a:prstGeom prst="roundRect">
            <a:avLst>
              <a:gd name="adj" fmla="val 5926"/>
            </a:avLst>
          </a:prstGeom>
          <a:solidFill>
            <a:srgbClr val="EBEFF1"/>
          </a:solidFill>
          <a:ln/>
        </p:spPr>
      </p:sp>
      <p:sp>
        <p:nvSpPr>
          <p:cNvPr id="32" name="Text 30"/>
          <p:cNvSpPr/>
          <p:nvPr/>
        </p:nvSpPr>
        <p:spPr>
          <a:xfrm>
            <a:off x="6222492" y="4480560"/>
            <a:ext cx="15834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≥ 60% vs raw .ply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22492" y="5303520"/>
            <a:ext cx="15834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ratio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16240" y="4389120"/>
            <a:ext cx="1729740" cy="1234440"/>
          </a:xfrm>
          <a:prstGeom prst="roundRect">
            <a:avLst>
              <a:gd name="adj" fmla="val 5926"/>
            </a:avLst>
          </a:prstGeom>
          <a:solidFill>
            <a:srgbClr val="EBEFF1"/>
          </a:solidFill>
          <a:ln/>
        </p:spPr>
      </p:sp>
      <p:sp>
        <p:nvSpPr>
          <p:cNvPr id="35" name="Text 33"/>
          <p:cNvSpPr/>
          <p:nvPr/>
        </p:nvSpPr>
        <p:spPr>
          <a:xfrm>
            <a:off x="8089392" y="4480560"/>
            <a:ext cx="15834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≥ 30 FPS, mid-range browser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89392" y="5303520"/>
            <a:ext cx="15834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frame rate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883140" y="4389120"/>
            <a:ext cx="1729740" cy="1234440"/>
          </a:xfrm>
          <a:prstGeom prst="roundRect">
            <a:avLst>
              <a:gd name="adj" fmla="val 5926"/>
            </a:avLst>
          </a:prstGeom>
          <a:solidFill>
            <a:srgbClr val="EBEFF1"/>
          </a:solidFill>
          <a:ln/>
        </p:spPr>
      </p:sp>
      <p:sp>
        <p:nvSpPr>
          <p:cNvPr id="38" name="Text 36"/>
          <p:cNvSpPr/>
          <p:nvPr/>
        </p:nvSpPr>
        <p:spPr>
          <a:xfrm>
            <a:off x="9956292" y="4480560"/>
            <a:ext cx="15834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6C8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within 5% of tape-measure baseline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56292" y="5303520"/>
            <a:ext cx="15834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testing: a supervised task walkthrough in Semester 2 with the on-site construction stakeholder, documented per Section 13.1 of the FAST FYP guide.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FEASIBILITY &amp;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Risks &amp; Mitigations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412390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lang="en-US" sz="14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  <a:endParaRPr lang="en-US" sz="14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Mitigation</a:t>
                      </a:r>
                      <a:endParaRPr lang="en-US" sz="14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A user captures unusable, blurred, or dark video, wasting GPU cloud compute time.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Edge-based image-quality assessment (FR2) blocks poor uploads and prompts real-time capture correction.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ARCore hardware telemetry drifts over time, causing spatial warping in the reconstructed model.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Capture limited to short (~60s) segments to limit accumulated IMU drift and allow periodic spatial resets.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Assumption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The cloud GPU provider (RunPod) will remain highly available for processing.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Pipeline is containerised (Docker), allowing fallback to a local GPU environment if unavailable.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Issue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Standard 3DGS geometry can bleed across physical boundaries, complicating precise dimension extraction.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Semantic bounding boxes (FR7) enforce geometric separation between distinct materials before dimensions are calculated.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Dependency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Final-2 evaluation requires testing with a real construction stakeholder.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45"/>
                          </a:solidFill>
                          <a:latin typeface="Calibri"/>
                          <a:ea typeface="Calibri"/>
                          <a:cs typeface="Calibri"/>
                        </a:rPr>
                        <a:t>A local construction-site stakeholder has been engaged; formal confirmation &amp; UAT scheduling to follow (Section 12).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PLAN &amp; CONSIDERATIONS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Division &amp; Team Responsibilities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505200" cy="43434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1640"/>
            <a:ext cx="3505200" cy="822960"/>
          </a:xfrm>
          <a:prstGeom prst="roundRect">
            <a:avLst>
              <a:gd name="adj" fmla="val 8889"/>
            </a:avLst>
          </a:prstGeom>
          <a:solidFill>
            <a:srgbClr val="1E2A4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94560"/>
            <a:ext cx="3505200" cy="320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01368"/>
            <a:ext cx="3102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2130552"/>
            <a:ext cx="3102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23i-0662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651760"/>
            <a:ext cx="31028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Edge Capture &amp; Validation (Workflow 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291840"/>
            <a:ext cx="310286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 with ARCore SDK for 6-DoF pose &amp; IMU extraction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Image Quality Assessment (Laplacian variance + lux, &lt;16ms)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async chunked video/telemetry upload to Cloudflare R2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8160" y="1691640"/>
            <a:ext cx="3505200" cy="43434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8160" y="1691640"/>
            <a:ext cx="3505200" cy="822960"/>
          </a:xfrm>
          <a:prstGeom prst="roundRect">
            <a:avLst>
              <a:gd name="adj" fmla="val 8889"/>
            </a:avLst>
          </a:prstGeom>
          <a:solidFill>
            <a:srgbClr val="1E2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4328160" y="2194560"/>
            <a:ext cx="3505200" cy="320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9328" y="1801368"/>
            <a:ext cx="3102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Tayyab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9328" y="2130552"/>
            <a:ext cx="3102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23i-0636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9328" y="2651760"/>
            <a:ext cx="31028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Orchestration &amp; 3DGS Reconstruction Engine (Workflow B)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9328" y="3291840"/>
            <a:ext cx="310286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async task queue — Node.js/Express + Redis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GPU worker containerisation on Ubuntu Linux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(ARCore + COLMAP) and core 3DGS CUDA training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07680" y="1691640"/>
            <a:ext cx="3505200" cy="43434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7680" y="1691640"/>
            <a:ext cx="3505200" cy="822960"/>
          </a:xfrm>
          <a:prstGeom prst="roundRect">
            <a:avLst>
              <a:gd name="adj" fmla="val 8889"/>
            </a:avLst>
          </a:prstGeom>
          <a:solidFill>
            <a:srgbClr val="1E2A45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7680" y="2194560"/>
            <a:ext cx="3505200" cy="320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8308848" y="1801368"/>
            <a:ext cx="31028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Fareed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8848" y="2130552"/>
            <a:ext cx="3102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23i-0829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08848" y="2651760"/>
            <a:ext cx="31028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AI, Compression &amp; Web Delivery Portal (Workflows B &amp; C)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08848" y="3291840"/>
            <a:ext cx="310286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CNN material segmentation + 2D-to-3D back-projection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pruning + .ksplat compression engine (&gt;60% reduction)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portal, Three.js viewer, dimension extraction, X-Ray overlay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PLAN &amp; CONSIDERATIONS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Iteration Plan Across Two Semesters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89280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3F6C8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92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(FYP-1)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35000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Build &amp; Cloud Pipeline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app: ARCore telemetry + edge image-quality assessment (FR1–FR3)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orchestration: Redis-backed async queue (FR4)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cloud GPU infrastructure on Ubuntu Linux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engine: ARCore + COLMAP fusion, raw 3DGS point cloud (FR5–FR6)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4892040" cy="0"/>
          </a:xfrm>
          <a:prstGeom prst="line">
            <a:avLst/>
          </a:prstGeom>
          <a:noFill/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 (Final-1): a working core pipeline — mobile video → validated → spatially scaled 3D scene.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89280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892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 (FYP-2)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2350008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Optimisation, Intelligence &amp; Delivery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engineering: heuristic pruning → .ksplat binaries (FR8)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 integration: 2D-to-3D projection + planned X-Ray overlay (FR7, FR10, FR11)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MongoDB web dashboard with adaptive Three.js viewer (FR9)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user acceptance testing with named construction stakeholder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709160"/>
            <a:ext cx="4892040" cy="0"/>
          </a:xfrm>
          <a:prstGeom prst="line">
            <a:avLst/>
          </a:prstGeom>
          <a:noFill/>
          <a:ln w="12700">
            <a:solidFill>
              <a:srgbClr val="DC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8006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 (Final-2): fully integrated, deployed platform with verifiable dimension extraction, having undergone UAT.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BEFF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5"/>
                </a:solidFill>
                <a:latin typeface="Calibri"/>
                <a:ea typeface="Calibri"/>
                <a:cs typeface="Calibri"/>
              </a:rPr>
              <a:t>Optional Extension (not committed to core grade):  </a:t>
            </a:r>
            <a:r>
              <a:rPr lang="en-US" sz="1100" dirty="0">
                <a:solidFill>
                  <a:srgbClr val="51606E"/>
                </a:solidFill>
                <a:latin typeface="Calibri"/>
                <a:ea typeface="Calibri"/>
                <a:cs typeface="Calibri"/>
              </a:rPr>
              <a:t>Automated report generation comparing extracted 3D scan dimensions against uploaded 2D floor plans.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49456" cy="6345936"/>
          </a:xfrm>
          <a:prstGeom prst="roundRect">
            <a:avLst>
              <a:gd name="adj" fmla="val 2017"/>
            </a:avLst>
          </a:prstGeom>
          <a:ln w="15875">
            <a:solidFill>
              <a:srgbClr val="DCE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/>
        </p:spPr>
      </p:sp>
      <p:sp>
        <p:nvSpPr>
          <p:cNvPr id="4" name="Text 2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PLAN &amp; CONSIDERATIONS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80467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DEI, Ethics &amp; Legal Considerations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6479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OWNERSHIP &amp; CONSENT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777240" y="204825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captures document active client construction sites. Formal confirmation of the on-site stakeholder's role and consent is required before Semester-2 UAT (Section 12).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6479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MODEL LICENSING</a:t>
            </a:r>
            <a:endParaRPr lang="en-US" sz="1200" b="1" dirty="0"/>
          </a:p>
        </p:txBody>
      </p:sp>
      <p:sp>
        <p:nvSpPr>
          <p:cNvPr id="14" name="Text 12"/>
          <p:cNvSpPr/>
          <p:nvPr/>
        </p:nvSpPr>
        <p:spPr>
          <a:xfrm>
            <a:off x="6492240" y="204825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Core-assist components — COLMAP, 3DGS CUDA kernels, pretrained YOLO/Mask2Former weights, Three.js — are used under their respective licenses; the team's own contribution is the fusion, compression, and semantic-projection pipeline.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7355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/ RELIABLE AI</a:t>
            </a:r>
            <a:endParaRPr lang="en-US" sz="1200" b="1" dirty="0"/>
          </a:p>
        </p:txBody>
      </p:sp>
      <p:sp>
        <p:nvSpPr>
          <p:cNvPr id="17" name="Text 15"/>
          <p:cNvSpPr/>
          <p:nvPr/>
        </p:nvSpPr>
        <p:spPr>
          <a:xfrm>
            <a:off x="777240" y="355701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material misclassification can propagate into dimension extraction. Mitigated by enforcing semantic bounding-box separation (FR7) before measurement, as logged in the RAID register.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1546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27355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3F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DEPENDENCY RISK</a:t>
            </a:r>
            <a:endParaRPr lang="en-US" sz="1200" b="1" dirty="0"/>
          </a:p>
        </p:txBody>
      </p:sp>
      <p:sp>
        <p:nvSpPr>
          <p:cNvPr id="20" name="Text 18"/>
          <p:cNvSpPr/>
          <p:nvPr/>
        </p:nvSpPr>
        <p:spPr>
          <a:xfrm>
            <a:off x="6492240" y="355701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a cloud GPU provider (RunPod) is mitigated by a Dockerised pipeline that can fall back to a local GPU environment.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0E4"/>
          </a:solidFill>
          <a:ln w="12700">
            <a:solidFill>
              <a:srgbClr val="E8C9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8231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B0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DIVERSITY, EQUITY &amp; INCLUSION</a:t>
            </a:r>
            <a:endParaRPr lang="en-US" sz="1200" b="1" dirty="0"/>
          </a:p>
        </p:txBody>
      </p:sp>
      <p:sp>
        <p:nvSpPr>
          <p:cNvPr id="23" name="Text 21"/>
          <p:cNvSpPr/>
          <p:nvPr/>
        </p:nvSpPr>
        <p:spPr>
          <a:xfrm>
            <a:off x="777240" y="506577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A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DEI CONSIDERATION — not yet explicitly documented for this project]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66344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BF0E4"/>
          </a:solidFill>
          <a:ln w="12700">
            <a:solidFill>
              <a:srgbClr val="E8C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78231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B0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b="1" dirty="0"/>
          </a:p>
        </p:txBody>
      </p:sp>
      <p:sp>
        <p:nvSpPr>
          <p:cNvPr id="26" name="Text 24"/>
          <p:cNvSpPr/>
          <p:nvPr/>
        </p:nvSpPr>
        <p:spPr>
          <a:xfrm>
            <a:off x="6492240" y="506577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8A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DATA SECURITY / ACCESS-CONTROL DETAIL — for cloud-stored site video &amp; telemetry (Cloudflare R2 / object storage)]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502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109960" y="457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3840480" cy="0"/>
          </a:xfrm>
          <a:prstGeom prst="line">
            <a:avLst/>
          </a:prstGeom>
          <a:noFill/>
          <a:ln w="15875">
            <a:solidFill>
              <a:srgbClr val="6E9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BuildScan 3D — Visual-Inertial 3D Gaussian Splatting for Construction Spatial Verification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B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Umair (23i-0662)   ·   Muhammad Tayyab (23i-0636)   ·   Zaid Fareed (23i-0829)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Furqan Nasir  ·  FAST School of Computing, NUCES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82</cp:revision>
  <dcterms:created xsi:type="dcterms:W3CDTF">2026-09-05T13:55:13Z</dcterms:created>
  <dcterms:modified xsi:type="dcterms:W3CDTF">2026-09-05T16:31:11Z</dcterms:modified>
</cp:coreProperties>
</file>